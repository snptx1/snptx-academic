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65BA60-9861-4773-84EF-940A4B4CDF90}" v="74" dt="2026-05-10T17:43:24.8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126" y="4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FOD7q1efukg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8A6FF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CSCI-E-116  | 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Clinical Risk Forecasting in SNPTX with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eICU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  <a:latin typeface="Calibri"/>
              </a:defRPr>
            </a:pPr>
            <a:r>
              <a:rPr lang="en-US" dirty="0"/>
              <a:t>E</a:t>
            </a:r>
            <a:r>
              <a:rPr dirty="0"/>
              <a:t>arly-window </a:t>
            </a:r>
            <a:r>
              <a:rPr lang="en-US" dirty="0"/>
              <a:t>clinical </a:t>
            </a:r>
            <a:r>
              <a:rPr dirty="0"/>
              <a:t>mortality forecasting on </a:t>
            </a:r>
            <a:r>
              <a:rPr dirty="0" err="1"/>
              <a:t>eICU</a:t>
            </a:r>
            <a:r>
              <a:rPr dirty="0"/>
              <a:t>-CRD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023360"/>
            <a:ext cx="2103120" cy="20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Daniel R. Russell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32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Calibri"/>
              </a:defRPr>
            </a:pPr>
            <a:r>
              <a:rPr dirty="0"/>
              <a:t>Instructor: William Yu  ·  </a:t>
            </a:r>
            <a:r>
              <a:rPr lang="en-US" sz="1400" b="1" dirty="0"/>
              <a:t>Dynamic Modeling and Forecasting in Big Data</a:t>
            </a:r>
            <a:r>
              <a:rPr dirty="0"/>
              <a:t>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332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r>
              <a:rPr dirty="0"/>
              <a:t>Python 3.11.14  ·  </a:t>
            </a:r>
            <a:r>
              <a:rPr dirty="0" err="1"/>
              <a:t>eICU</a:t>
            </a:r>
            <a:r>
              <a:rPr dirty="0"/>
              <a:t>-CRD demo v2.0.1  ·  SNPTX core </a:t>
            </a:r>
            <a:r>
              <a:rPr dirty="0" err="1"/>
              <a:t>venv</a:t>
            </a:r>
            <a:endParaRPr lang="en-US" dirty="0"/>
          </a:p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endParaRPr lang="en-US" dirty="0"/>
          </a:p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endParaRPr lang="en-US" dirty="0"/>
          </a:p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r>
              <a:rPr lang="en-US" sz="1000" dirty="0"/>
              <a:t>The </a:t>
            </a:r>
            <a:r>
              <a:rPr lang="en-US" sz="1000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 demo </a:t>
            </a:r>
            <a:r>
              <a:rPr lang="en-US" sz="1000" dirty="0"/>
              <a:t>deploys </a:t>
            </a:r>
            <a:r>
              <a:rPr lang="en-US" sz="1000" i="1" dirty="0" err="1"/>
              <a:t>ElevenLabs</a:t>
            </a:r>
            <a:r>
              <a:rPr lang="en-US" sz="1000" i="1" dirty="0"/>
              <a:t> TTS Platform (v2 model 2026)</a:t>
            </a:r>
            <a:endParaRPr lang="en-US" sz="1000" dirty="0"/>
          </a:p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endParaRPr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984"/>
    </mc:Choice>
    <mc:Fallback xmlns="">
      <p:transition spd="slow" advTm="27984"/>
    </mc:Fallback>
  </mc:AlternateContent>
  <p:extLst>
    <p:ext uri="{E180D4A7-C9FB-4DFB-919C-405C955672EB}">
      <p14:showEvtLst xmlns:p14="http://schemas.microsoft.com/office/powerpoint/2010/main">
        <p14:playEvt time="5492" objId="35"/>
        <p14:stopEvt time="26862" objId="35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&amp;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t>Can early ICU vitals support reproducible, hospital-grouped mortality forecasts?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02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694944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73152" cy="10789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435608"/>
            <a:ext cx="6656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73352"/>
            <a:ext cx="6656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In-hospital mortality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39112"/>
            <a:ext cx="6656832" cy="3017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Binary label derived from discharge status. Base rate 8.6% on the demo cohort.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14600"/>
            <a:ext cx="694944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514600"/>
            <a:ext cx="73152" cy="10789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2624328"/>
            <a:ext cx="6656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HORIZON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62072"/>
            <a:ext cx="6656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6, 12, and 24 hour 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227832"/>
            <a:ext cx="6656832" cy="3017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Three early-warning forecasts; only data observed before each window boundary is used.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03320"/>
            <a:ext cx="694944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703320"/>
            <a:ext cx="73152" cy="10789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3813048"/>
            <a:ext cx="6656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050792"/>
            <a:ext cx="6656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Hospital-grouped GroupShuffleSplit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416552"/>
            <a:ext cx="6656832" cy="3017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Each hospital appears in either train or test, never both. Closes the most common leakage path on multi-site EHR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92040"/>
            <a:ext cx="694944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4892040"/>
            <a:ext cx="73152" cy="10789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5001768"/>
            <a:ext cx="6656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LINEAGE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239512"/>
            <a:ext cx="6656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Single-notebook reproducibility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605272"/>
            <a:ext cx="6656832" cy="3017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Every figure, table, and metric regenerates from one notebook against versioned eICU-CRD demo files in the SNPTX framework.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1325880"/>
            <a:ext cx="4023360" cy="465429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0" y="1417320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alibri"/>
              </a:defRPr>
            </a:pPr>
            <a:r>
              <a:rPr dirty="0"/>
              <a:t>Cohort at a glance</a:t>
            </a:r>
            <a:r>
              <a:rPr lang="en-US" dirty="0"/>
              <a:t>:</a:t>
            </a:r>
            <a:endParaRPr dirty="0"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412404"/>
              </p:ext>
            </p:extLst>
          </p:nvPr>
        </p:nvGraphicFramePr>
        <p:xfrm>
          <a:off x="7863840" y="1828800"/>
          <a:ext cx="3657600" cy="36519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773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rPr dirty="0"/>
                        <a:t>Cohort statistic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ICU stays (cohort)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2,520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Hospitals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Mortality events @ 24h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rPr dirty="0"/>
                        <a:t>204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Base mortality rate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8.6%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Held-out hospitals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Held-out stays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639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Held-out events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77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Random seed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rPr dirty="0"/>
                        <a:t>1337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584"/>
    </mc:Choice>
    <mc:Fallback xmlns="">
      <p:transition spd="slow" advTm="73584"/>
    </mc:Fallback>
  </mc:AlternateContent>
  <p:extLst>
    <p:ext uri="{E180D4A7-C9FB-4DFB-919C-405C955672EB}">
      <p14:showEvtLst xmlns:p14="http://schemas.microsoft.com/office/powerpoint/2010/main">
        <p14:playEvt time="1794" objId="57"/>
        <p14:stopEvt time="71191" objId="57"/>
      </p14:showEvt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rPr sz="1200" dirty="0"/>
              <a:t>Raw </a:t>
            </a:r>
            <a:r>
              <a:rPr sz="1200" dirty="0" err="1"/>
              <a:t>eICU</a:t>
            </a:r>
            <a:r>
              <a:rPr sz="1200" dirty="0"/>
              <a:t> tables → cohort → windowed features → hospital-grouped models → calibration &amp; drift receipts.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03 / 10</a:t>
            </a:r>
          </a:p>
        </p:txBody>
      </p:sp>
      <p:pic>
        <p:nvPicPr>
          <p:cNvPr id="7" name="Picture 6" descr="methodology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67" y="1069848"/>
            <a:ext cx="9717505" cy="543322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408"/>
    </mc:Choice>
    <mc:Fallback xmlns="">
      <p:transition spd="slow" advTm="73408"/>
    </mc:Fallback>
  </mc:AlternateContent>
  <p:extLst>
    <p:ext uri="{E180D4A7-C9FB-4DFB-919C-405C955672EB}">
      <p14:showEvtLst xmlns:p14="http://schemas.microsoft.com/office/powerpoint/2010/main">
        <p14:playEvt time="1363" objId="36"/>
        <p14:stopEvt time="71304" objId="36"/>
      </p14:showEvt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Cohort &amp; Prediction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rPr dirty="0"/>
              <a:t>Three windows; mortality and long-</a:t>
            </a:r>
            <a:r>
              <a:rPr dirty="0" err="1"/>
              <a:t>LoS</a:t>
            </a:r>
            <a:r>
              <a:rPr dirty="0"/>
              <a:t> labels derived before each window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04 / 10</a:t>
            </a:r>
          </a:p>
        </p:txBody>
      </p:sp>
      <p:pic>
        <p:nvPicPr>
          <p:cNvPr id="7" name="Picture 6" descr="cohort_targ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227" y="1234440"/>
            <a:ext cx="9755065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4572000"/>
            <a:ext cx="6949440" cy="1737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464515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Calibri"/>
              </a:defRPr>
            </a:pPr>
            <a:r>
              <a:t>Hospital-grouped split receipts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4983480"/>
          <a:ext cx="6583680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Window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Stays  train / test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Events  train / test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Hospitals  train / test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6h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1,687 / 633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149 / 55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138 / 47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12h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1,697 / 637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149 / 55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138 / 47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24h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1,700 / 639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149 / 55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138 / 47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680960" y="4572000"/>
            <a:ext cx="4023360" cy="5486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80960" y="4572000"/>
            <a:ext cx="54864" cy="548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45552" y="46451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4626864"/>
            <a:ext cx="2971800" cy="4389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t>A random split lets the same hospital leak across folds.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5166360"/>
            <a:ext cx="4023360" cy="5486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80960" y="5166360"/>
            <a:ext cx="54864" cy="548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45552" y="523951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DEFENCE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5221224"/>
            <a:ext cx="2971800" cy="4389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t>Hospital-grouped split forces every test stay into an unseen site.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65720" y="5772460"/>
            <a:ext cx="4023360" cy="5486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80960" y="5760720"/>
            <a:ext cx="54864" cy="548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45552" y="58338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5815584"/>
            <a:ext cx="2971800" cy="4389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t>This is the minimum honest evaluation for a multi-site EHR model.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458"/>
    </mc:Choice>
    <mc:Fallback xmlns="">
      <p:transition spd="slow" advTm="66458"/>
    </mc:Fallback>
  </mc:AlternateContent>
  <p:extLst>
    <p:ext uri="{E180D4A7-C9FB-4DFB-919C-405C955672EB}">
      <p14:showEvtLst xmlns:p14="http://schemas.microsoft.com/office/powerpoint/2010/main">
        <p14:playEvt time="1935" objId="39"/>
        <p14:stopEvt time="64171" objId="39"/>
      </p14:showEvt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Exploratory Trajectories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t>Vital-sign missingness sets the feature ceiling; mean heart-rate trajectories already separate by 24h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05 / 10</a:t>
            </a:r>
          </a:p>
        </p:txBody>
      </p:sp>
      <p:pic>
        <p:nvPicPr>
          <p:cNvPr id="7" name="Picture 6" descr="eda_missingness_traje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49" y="1845626"/>
            <a:ext cx="11430000" cy="380682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862"/>
    </mc:Choice>
    <mc:Fallback xmlns="">
      <p:transition spd="slow" advTm="52862"/>
    </mc:Fallback>
  </mc:AlternateContent>
  <p:extLst>
    <p:ext uri="{E180D4A7-C9FB-4DFB-919C-405C955672EB}">
      <p14:showEvtLst xmlns:p14="http://schemas.microsoft.com/office/powerpoint/2010/main">
        <p14:playEvt time="2259" objId="20"/>
        <p14:stopEvt time="50517" objId="20"/>
      </p14:showEvt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Model Suite Complexity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t>Each rung isolates one source of predictive capacity. No hyperparameter tuning on this cohort.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06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6858000" cy="4846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alibri"/>
              </a:defRPr>
            </a:pPr>
            <a:r>
              <a:t>Six models, deliberately layered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Majority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82880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  <a:r>
              <a:t>Predicts marginal mortality rate. Pins floor; AUROC=0.500 by construction.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Static logit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42032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  <a:r>
              <a:t>Admission descriptors only. Tests if static context alone is enough.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552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Dynamic logit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55264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  <a:r>
              <a:t>Adds windowed vital + lab summaries. Isolates value of intra-stay signal.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684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PCA-factor logit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968496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  <a:r>
              <a:t>Compresses dynamic block to ~8 latent acuity factors.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81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Histogram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681728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  <a:r>
              <a:t>Tests whether non-linear interactions add signal a linear model can't reach.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39496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alibri"/>
              </a:defRPr>
            </a:pPr>
            <a:r>
              <a:t>Independent ensemble; agreement with GB = predictive ceiling reached.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1325880"/>
            <a:ext cx="4023360" cy="4846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alibri"/>
              </a:defRPr>
            </a:pPr>
            <a:r>
              <a:t>Why no hyperparameter tuning?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8745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THE CONSTRAINT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121408"/>
            <a:ext cx="3657600" cy="10058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The held-out partition is small — 47 hospitals and roughly 55 mortality events per window. Any tuning loop would either leak information across the boundary or burn a separate hospital block this study cannot afford.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611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Calibri"/>
              </a:defRPr>
            </a:pPr>
            <a:r>
              <a:t>THE STANCE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858768"/>
            <a:ext cx="3657600" cy="10058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Hyperparameters are fixed at scikit-learn-guidance defaults. The reported numbers are an honest first-pass evaluation; production deployment would require nested cross-validation on a much larger cohort.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362"/>
    </mc:Choice>
    <mc:Fallback xmlns="">
      <p:transition spd="slow" advTm="79362"/>
    </mc:Fallback>
  </mc:AlternateContent>
  <p:extLst>
    <p:ext uri="{E180D4A7-C9FB-4DFB-919C-405C955672EB}">
      <p14:showEvtLst xmlns:p14="http://schemas.microsoft.com/office/powerpoint/2010/main">
        <p14:playEvt time="1894" objId="34"/>
        <p14:stopEvt time="76778" objId="34"/>
      </p14:showEvt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Discrimination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rPr dirty="0"/>
              <a:t>Random forest @ 24h: AUROC 0.839, AP 0.361 </a:t>
            </a:r>
            <a:r>
              <a:rPr lang="en-US" dirty="0"/>
              <a:t>represents</a:t>
            </a:r>
            <a:r>
              <a:rPr dirty="0"/>
              <a:t> a 4.2x lift over an 8.6% base rate. Histogram GB is statistically tied.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07 / 10</a:t>
            </a:r>
          </a:p>
        </p:txBody>
      </p:sp>
      <p:pic>
        <p:nvPicPr>
          <p:cNvPr id="7" name="Picture 6" descr="discrimination_curves_by_win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88" y="1280160"/>
            <a:ext cx="6687104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75320" y="1280160"/>
            <a:ext cx="3657600" cy="50784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Calibri"/>
              </a:defRPr>
            </a:pPr>
            <a:r>
              <a:t>Held-out leaderboard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412480" y="1828800"/>
          <a:ext cx="3383280" cy="1956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5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Win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Best model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AUROC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AP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6h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0.795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0.304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12h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0.834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0.322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24h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0.839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0.361</a:t>
                      </a:r>
                    </a:p>
                  </a:txBody>
                  <a:tcPr anchor="ctr">
                    <a:solidFill>
                      <a:srgbClr val="12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24h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0.500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0.086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41248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Calibri"/>
              </a:defRPr>
            </a:pPr>
            <a:r>
              <a:t>Reading the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4297680"/>
            <a:ext cx="3383280" cy="603504"/>
          </a:xfrm>
          <a:prstGeom prst="rect">
            <a:avLst/>
          </a:prstGeom>
          <a:solidFill>
            <a:srgbClr val="12161E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12480" y="4297680"/>
            <a:ext cx="45720" cy="60350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22208" y="43616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A6FF"/>
                </a:solidFill>
                <a:latin typeface="Calibri"/>
              </a:defRPr>
            </a:pPr>
            <a:r>
              <a:t>HEATMAP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4553712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E6EDF3"/>
                </a:solidFill>
                <a:latin typeface="Calibri"/>
              </a:defRPr>
            </a:pPr>
            <a:r>
              <a:t>AUROC and AP paired in one cell so the rank-vs-retrieval trade-off is visible at a glance.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4946904"/>
            <a:ext cx="3383280" cy="603504"/>
          </a:xfrm>
          <a:prstGeom prst="rect">
            <a:avLst/>
          </a:prstGeom>
          <a:solidFill>
            <a:srgbClr val="12161E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4946904"/>
            <a:ext cx="45720" cy="60350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2208" y="50109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A6FF"/>
                </a:solidFill>
                <a:latin typeface="Calibri"/>
              </a:defRPr>
            </a:pPr>
            <a:r>
              <a:t>PR CURVE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5202936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E6EDF3"/>
                </a:solidFill>
                <a:latin typeface="Calibri"/>
              </a:defRPr>
            </a:pPr>
            <a:r>
              <a:t>Sits above the 0.086 prevalence reference until the last fifth of recall.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5596128"/>
            <a:ext cx="3383280" cy="603504"/>
          </a:xfrm>
          <a:prstGeom prst="rect">
            <a:avLst/>
          </a:prstGeom>
          <a:solidFill>
            <a:srgbClr val="12161E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12480" y="5596128"/>
            <a:ext cx="45720" cy="60350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22208" y="56601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8A6FF"/>
                </a:solidFill>
                <a:latin typeface="Calibri"/>
              </a:defRPr>
            </a:pPr>
            <a:r>
              <a:t>OPERATING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5852160"/>
            <a:ext cx="320040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E6EDF3"/>
                </a:solidFill>
                <a:latin typeface="Calibri"/>
              </a:defRPr>
            </a:pPr>
            <a:r>
              <a:rPr dirty="0"/>
              <a:t>Top-of-list precision ≈ 0.5 at recall ≈ 0.2 </a:t>
            </a:r>
            <a:r>
              <a:rPr lang="en-US" dirty="0"/>
              <a:t>represents</a:t>
            </a:r>
            <a:r>
              <a:rPr dirty="0"/>
              <a:t> a 5–6x lift over base rate.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702"/>
    </mc:Choice>
    <mc:Fallback xmlns="">
      <p:transition spd="slow" advTm="82702"/>
    </mc:Fallback>
  </mc:AlternateContent>
  <p:extLst>
    <p:ext uri="{E180D4A7-C9FB-4DFB-919C-405C955672EB}">
      <p14:showEvtLst xmlns:p14="http://schemas.microsoft.com/office/powerpoint/2010/main">
        <p14:playEvt time="2469" objId="29"/>
        <p14:stopEvt time="79910" objId="29"/>
      </p14:showEvt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Calibration &amp; Risk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rPr dirty="0"/>
              <a:t>Well-ordered, not well-calibrated: random forest overpredicts mid-range risk — </a:t>
            </a:r>
            <a:r>
              <a:rPr lang="en-US" dirty="0"/>
              <a:t>a</a:t>
            </a:r>
            <a:r>
              <a:rPr dirty="0"/>
              <a:t> textbook case for Platt or isotonic recalibration.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08 / 10</a:t>
            </a:r>
          </a:p>
        </p:txBody>
      </p:sp>
      <p:pic>
        <p:nvPicPr>
          <p:cNvPr id="7" name="Picture 6" descr="calibration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83341"/>
            <a:ext cx="11430000" cy="33656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897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r>
              <a:t>Realised risk range 0.000 – 0.824. Reliability curve sits below the diagonal across most of the range; bias is largest in the mid-risk band.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819"/>
    </mc:Choice>
    <mc:Fallback xmlns="">
      <p:transition spd="slow" advTm="67819"/>
    </mc:Fallback>
  </mc:AlternateContent>
  <p:extLst>
    <p:ext uri="{E180D4A7-C9FB-4DFB-919C-405C955672EB}">
      <p14:showEvtLst xmlns:p14="http://schemas.microsoft.com/office/powerpoint/2010/main">
        <p14:playEvt time="1846" objId="13"/>
        <p14:stopEvt time="65680" objId="13"/>
      </p14:showEvt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Cross-Hospital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t>The top six features all exceed PSI 0.20 (large-shift threshold). PSI is the load-bearing signal; KS p-values are limited by held-out cohort size.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09 / 10</a:t>
            </a:r>
          </a:p>
        </p:txBody>
      </p:sp>
      <p:pic>
        <p:nvPicPr>
          <p:cNvPr id="7" name="Picture 6" descr="drift_sign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60" y="1280160"/>
            <a:ext cx="102420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31453" y="5931667"/>
            <a:ext cx="5113302" cy="261610"/>
          </a:xfrm>
          <a:prstGeom prst="rect">
            <a:avLst/>
          </a:prstGeom>
          <a:solidFill>
            <a:srgbClr val="383838"/>
          </a:solidFill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Calibri"/>
              </a:defRPr>
            </a:pPr>
            <a:r>
              <a:rPr dirty="0"/>
              <a:t>Temperature summaries dominate the drift profile (PSI 0.31–0.77)</a:t>
            </a:r>
            <a:r>
              <a:rPr lang="en-US" dirty="0"/>
              <a:t>.</a:t>
            </a:r>
            <a:r>
              <a:rPr dirty="0"/>
              <a:t>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594"/>
    </mc:Choice>
    <mc:Fallback xmlns="">
      <p:transition spd="slow" advTm="68594"/>
    </mc:Fallback>
  </mc:AlternateContent>
  <p:extLst>
    <p:ext uri="{E180D4A7-C9FB-4DFB-919C-405C955672EB}">
      <p14:showEvtLst xmlns:p14="http://schemas.microsoft.com/office/powerpoint/2010/main">
        <p14:playEvt time="2530" objId="13"/>
        <p14:stopEvt time="66213" objId="13"/>
      </p14:showEvt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Operational Translation &amp;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Calibri"/>
              </a:defRPr>
            </a:pPr>
            <a:r>
              <a:rPr dirty="0"/>
              <a:t>What the numbers mean for a clinical triage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alibri"/>
              </a:defRPr>
            </a:pPr>
            <a:r>
              <a:t>CSCI-E-116  |  Daniel R. Russell  |  May 2026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Calibri"/>
              </a:defRPr>
            </a:pPr>
            <a:r>
              <a:t>10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703320" cy="2331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370332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Calibri"/>
              </a:defRPr>
            </a:pPr>
            <a:r>
              <a:t>TOP-DECILE 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~64 stays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32888"/>
            <a:ext cx="3246120" cy="49859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rPr dirty="0"/>
              <a:t>Flags &lt;10% of the held-out cohort yet captures roughly one third to one half of all eventual mortality events</a:t>
            </a:r>
            <a:r>
              <a:rPr lang="en-US" dirty="0"/>
              <a:t>…</a:t>
            </a:r>
            <a:r>
              <a:rPr dirty="0"/>
              <a:t> a 4–5x concentration of clinical effort onto the highest-risk patients.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325880"/>
            <a:ext cx="3703320" cy="2331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325880"/>
            <a:ext cx="370332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5270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B950"/>
                </a:solidFill>
                <a:latin typeface="Calibri"/>
              </a:defRPr>
            </a:pPr>
            <a:r>
              <a:t>TOP-QUARTILE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8288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~160 stays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532888"/>
            <a:ext cx="3246120" cy="10515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t>Captures the majority of events at the cost of a higher false-positive rate. This is the regime where the mid-risk calibration bias matters most.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9016" y="1325880"/>
            <a:ext cx="3703320" cy="2331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29016" y="1325880"/>
            <a:ext cx="3703320" cy="54864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57616" y="15270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22"/>
                </a:solidFill>
                <a:latin typeface="Calibri"/>
              </a:defRPr>
            </a:pPr>
            <a:r>
              <a:t>CALIBRATION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18288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Use π̂, not 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532888"/>
            <a:ext cx="3246120" cy="49859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rPr dirty="0"/>
              <a:t>Any threshold-based escalation must use the calibrated probability </a:t>
            </a:r>
            <a:r>
              <a:rPr lang="en-US" dirty="0"/>
              <a:t>(</a:t>
            </a:r>
            <a:r>
              <a:rPr dirty="0"/>
              <a:t>a Platt or isotonic step on the raw model output</a:t>
            </a:r>
            <a:r>
              <a:rPr lang="en-US" dirty="0"/>
              <a:t>)</a:t>
            </a:r>
            <a:r>
              <a:rPr dirty="0"/>
              <a:t> </a:t>
            </a:r>
            <a:r>
              <a:rPr lang="en-US" dirty="0"/>
              <a:t>instead of</a:t>
            </a:r>
            <a:r>
              <a:rPr dirty="0"/>
              <a:t> the raw RF score.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22191"/>
            <a:ext cx="7516368" cy="239572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959351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Calibri"/>
              </a:defRPr>
            </a:pPr>
            <a:r>
              <a:t>LIMITS &amp; NEXT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2511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325111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eICU-CRD demo only (2,520 stays / 186 hospitals).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3659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736591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Retrospective discharge status; no clinician adjudication.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4807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Calibration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5148071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Not clinically calibrated; mid-risk bias documented.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5955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External validity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5559551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E6EDF3"/>
                </a:solidFill>
                <a:latin typeface="Calibri"/>
              </a:defRPr>
            </a:pPr>
            <a:r>
              <a:t>Needs validation on a second health system + per-subgroup calibration audit.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9016" y="3822191"/>
            <a:ext cx="3703320" cy="239572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0" y="395935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Calibri"/>
              </a:defRPr>
            </a:pPr>
            <a:r>
              <a:t>LITERATURE ANCHORS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32511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Calibri"/>
              </a:defRPr>
            </a:pPr>
            <a:r>
              <a:t>eICU benchmarks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553711"/>
            <a:ext cx="310896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t>Pollard 2018 · Sheikhalishahi 2020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892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Calibri"/>
              </a:defRPr>
            </a:pPr>
            <a:r>
              <a:t>Calibration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120639"/>
            <a:ext cx="310896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t>Niculescu-Mizil &amp; Caruana 2005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45896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Calibri"/>
              </a:defRPr>
            </a:pPr>
            <a:r>
              <a:t>PR-vs-ROC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687567"/>
            <a:ext cx="310896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E6EDF3"/>
                </a:solidFill>
                <a:latin typeface="Calibri"/>
              </a:defRPr>
            </a:pPr>
            <a:r>
              <a:t>Davis &amp; Goadrich 2006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021"/>
    </mc:Choice>
    <mc:Fallback xmlns="">
      <p:transition spd="slow" advTm="83021"/>
    </mc:Fallback>
  </mc:AlternateContent>
  <p:extLst>
    <p:ext uri="{E180D4A7-C9FB-4DFB-919C-405C955672EB}">
      <p14:showEvtLst xmlns:p14="http://schemas.microsoft.com/office/powerpoint/2010/main">
        <p14:playEvt time="2245" objId="44"/>
        <p14:stopEvt time="79624" objId="44"/>
      </p14:showEvt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7D4B3978C912428275457911A8D7FD" ma:contentTypeVersion="10" ma:contentTypeDescription="Create a new document." ma:contentTypeScope="" ma:versionID="84ffa401225f6d516e648812f4a2830b">
  <xsd:schema xmlns:xsd="http://www.w3.org/2001/XMLSchema" xmlns:xs="http://www.w3.org/2001/XMLSchema" xmlns:p="http://schemas.microsoft.com/office/2006/metadata/properties" xmlns:ns3="f96c0b0d-1590-40cb-8f5a-57e0d9841a00" targetNamespace="http://schemas.microsoft.com/office/2006/metadata/properties" ma:root="true" ma:fieldsID="72acca3fb278ba09cdbfe7d336dc6718" ns3:_="">
    <xsd:import namespace="f96c0b0d-1590-40cb-8f5a-57e0d9841a0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c0b0d-1590-40cb-8f5a-57e0d9841a0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8E24E9-757E-462A-BC48-FD1D74D3AFA2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f96c0b0d-1590-40cb-8f5a-57e0d9841a00"/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3DB6F6B-21DA-4488-98DE-D02BBFDF0D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BB1CCA-E2DF-44F2-989F-E2C14BB7F8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6c0b0d-1590-40cb-8f5a-57e0d9841a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1738</TotalTime>
  <Words>1041</Words>
  <Application>Microsoft Office PowerPoint</Application>
  <PresentationFormat>Widescreen</PresentationFormat>
  <Paragraphs>172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Da_Fluff</dc:creator>
  <cp:keywords/>
  <dc:description>generated using python-pptx</dc:description>
  <cp:lastModifiedBy>Russell, Daniel</cp:lastModifiedBy>
  <cp:revision>3</cp:revision>
  <dcterms:created xsi:type="dcterms:W3CDTF">2013-01-27T09:14:16Z</dcterms:created>
  <dcterms:modified xsi:type="dcterms:W3CDTF">2026-05-12T17:10:57Z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0x010100C67D4B3978C912428275457911A8D7FD</vt:lpwstr>
  </property>
</Properties>
</file>