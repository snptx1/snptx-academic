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CSCI-E-116  | 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Temporal Clinical Risk Forecasting in SNPTX with eICU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Hospital-grouped early-window mortality forecasting on eICU-CRD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Daniel R. Russell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Instructor: William Yu  ·  Harvard Extension School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Python 3.11.14  ·  eICU-CRD demo v2.0.1  ·  SNPTX core venv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&amp;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Can early ICU vitals support reproducible, hospital-grouped mortality forecasts?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94944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3152" cy="10789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35608"/>
            <a:ext cx="6656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2"/>
            <a:ext cx="6656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In-hospital mortality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39112"/>
            <a:ext cx="6656832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Binary label derived from discharge status. Base rate 8.6% on the demo cohort.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14600"/>
            <a:ext cx="694944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73152" cy="10789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8"/>
            <a:ext cx="6656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HORIZON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62072"/>
            <a:ext cx="6656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6, 12, and 24 hour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227832"/>
            <a:ext cx="6656832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Three early-warning forecasts; only data observed before each window boundary is used.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694944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73152" cy="10789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13048"/>
            <a:ext cx="6656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050792"/>
            <a:ext cx="6656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Hospital-grouped GroupShuffleSplit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416552"/>
            <a:ext cx="6656832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Each hospital appears in either train or test, never both. Closes the most common leakage path on multi-site EHR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92040"/>
            <a:ext cx="694944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92040"/>
            <a:ext cx="73152" cy="10789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001768"/>
            <a:ext cx="6656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LINEAGE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239512"/>
            <a:ext cx="6656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Single-notebook reproducibility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05272"/>
            <a:ext cx="6656832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Every figure, table, and metric regenerates from one notebook against versioned eICU-CRD demo files in the SNPTX framework.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325880"/>
            <a:ext cx="402336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alibri"/>
              </a:defRPr>
            </a:pPr>
            <a:r>
              <a:t>Cohort at a glance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863840" y="1828800"/>
          <a:ext cx="3657600" cy="2962656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Cohort statistic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ICU stays (cohort)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2,520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Hospitals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Mortality events @ 24h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Base mortality rate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8.6%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Held-out hospitals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Held-out stays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639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Held-out events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Random seed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1337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Raw eICU tables → cohort → windowed features → hospital-grouped models → calibration &amp; drift receipts.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03 / 10</a:t>
            </a:r>
          </a:p>
        </p:txBody>
      </p:sp>
      <p:pic>
        <p:nvPicPr>
          <p:cNvPr id="7" name="Picture 6" descr="methodolog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82" y="1280160"/>
            <a:ext cx="883135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Cohort &amp; Prediction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Three leakage-safe windows; mortality and long-LoS labels derived before each window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04 / 10</a:t>
            </a:r>
          </a:p>
        </p:txBody>
      </p:sp>
      <p:pic>
        <p:nvPicPr>
          <p:cNvPr id="7" name="Picture 6" descr="cohort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27" y="1234440"/>
            <a:ext cx="9755065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572000"/>
            <a:ext cx="6949440" cy="1783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4515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t>Hospital-grouped split receipts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4983480"/>
          <a:ext cx="6583680" cy="1170432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Window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Stays  train / test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Events  train / test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Hospitals  train / test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6h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1,687 / 633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149 / 55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138 / 47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12h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1,697 / 637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149 / 55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138 / 47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24h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1,700 / 639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149 / 55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138 / 47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80960" y="4572000"/>
            <a:ext cx="4023360" cy="548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4572000"/>
            <a:ext cx="54864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46451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626864"/>
            <a:ext cx="297180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A random split lets the same hospital leak across folds.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166360"/>
            <a:ext cx="4023360" cy="548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5166360"/>
            <a:ext cx="54864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523951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5221224"/>
            <a:ext cx="297180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Hospital-grouped split forces every test stay into an unseen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5760720"/>
            <a:ext cx="4023360" cy="548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5760720"/>
            <a:ext cx="54864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58338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815584"/>
            <a:ext cx="297180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This is the minimum honest evaluation for a multi-site EHR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Exploratory Trajectories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Vital-sign missingness sets the feature ceiling; mean heart-rate trajectories already separate by 24h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05 / 10</a:t>
            </a:r>
          </a:p>
        </p:txBody>
      </p:sp>
      <p:pic>
        <p:nvPicPr>
          <p:cNvPr id="7" name="Picture 6" descr="eda_missingness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5626"/>
            <a:ext cx="11430000" cy="38068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Suite — Complexity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Each rung isolates one source of predictive capacity. No hyperparameter tuning on this cohort.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85800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alibri"/>
              </a:defRPr>
            </a:pPr>
            <a:r>
              <a:t>Six models, deliberately layered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Majority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2880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Predicts marginal mortality rate. Pins floor; AUROC=0.500 by construction.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Static logit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42032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Admission descriptors only. Tests if static context alone is enough.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552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Dynamic logit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55264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Adds windowed vital + lab summaries. Isolates value of intra-stay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684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PCA-factor logit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68496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Compresses dynamic block to ~8 latent acuity factors.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81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Histogram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81728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Tests whether non-linear interactions add signal a linear model can't reach.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949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Independent ensemble; agreement with GB = predictive ceiling reached.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325880"/>
            <a:ext cx="402336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alibri"/>
              </a:defRPr>
            </a:pPr>
            <a:r>
              <a:t>Why no hyperparameter tuning?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745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THE CONSTRAINT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121408"/>
            <a:ext cx="3657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The held-out partition is small — 47 hospitals and roughly 55 mortality events per window. Any tuning loop would either leak information across the boundary or burn a separate hospital block this study cannot afford.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611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THE 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858768"/>
            <a:ext cx="3657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Hyperparameters are fixed at scikit-learn-guidance defaults. The reported numbers are an honest first-pass evaluation; production deployment would require nested cross-validation on a much larger cohort.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Discrimination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Random forest @ 24h: AUROC 0.839, AP 0.361 — a 4.2x lift over an 8.6% base rate. Histogram GB is statistically tied.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07 / 10</a:t>
            </a:r>
          </a:p>
        </p:txBody>
      </p:sp>
      <p:pic>
        <p:nvPicPr>
          <p:cNvPr id="7" name="Picture 6" descr="discrimination_curves_by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88" y="1280160"/>
            <a:ext cx="6687104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280160"/>
            <a:ext cx="3657600" cy="4937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t>Held-out leaderboard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0" y="1828800"/>
          <a:ext cx="3383280" cy="192024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845820"/>
                <a:gridCol w="845820"/>
                <a:gridCol w="845820"/>
                <a:gridCol w="845820"/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Win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Best model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AUROC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AP</a:t>
                      </a:r>
                    </a:p>
                  </a:txBody>
                  <a:tcPr anchor="ctr">
                    <a:solidFill>
                      <a:srgbClr val="161B22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6h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0.795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0.304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12h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0.322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24h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0.839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0.361</a:t>
                      </a:r>
                    </a:p>
                  </a:txBody>
                  <a:tcPr anchor="ctr">
                    <a:solidFill>
                      <a:srgbClr val="12161E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24h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0.086</a:t>
                      </a:r>
                    </a:p>
                  </a:txBody>
                  <a:tcPr anchor="ctr">
                    <a:solidFill>
                      <a:srgbClr val="0D1117"/>
                    </a:solidFill>
                    <a:lnL w="3175" cap="flat">
                      <a:solidFill>
                        <a:srgbClr val="1E232C"/>
                      </a:solidFill>
                    </a:lnL>
                    <a:lnR w="3175" cap="flat">
                      <a:solidFill>
                        <a:srgbClr val="1E232C"/>
                      </a:solidFill>
                    </a:lnR>
                    <a:lnT w="3175" cap="flat">
                      <a:solidFill>
                        <a:srgbClr val="1E232C"/>
                      </a:solidFill>
                    </a:lnT>
                    <a:lnB w="3175" cap="flat">
                      <a:solidFill>
                        <a:srgbClr val="1E232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t>Reading the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297680"/>
            <a:ext cx="3383280" cy="603504"/>
          </a:xfrm>
          <a:prstGeom prst="rect">
            <a:avLst/>
          </a:prstGeom>
          <a:solidFill>
            <a:srgbClr val="12161E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4297680"/>
            <a:ext cx="45720" cy="60350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4361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A6FF"/>
                </a:solidFill>
                <a:latin typeface="Calibri"/>
              </a:defRPr>
            </a:pPr>
            <a:r>
              <a:t>HEATMAP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455371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E6EDF3"/>
                </a:solidFill>
                <a:latin typeface="Calibri"/>
              </a:defRPr>
            </a:pPr>
            <a:r>
              <a:t>AUROC and AP paired in one cell so the rank-vs-retrieval trade-off is visible at a glance.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4946904"/>
            <a:ext cx="3383280" cy="603504"/>
          </a:xfrm>
          <a:prstGeom prst="rect">
            <a:avLst/>
          </a:prstGeom>
          <a:solidFill>
            <a:srgbClr val="12161E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4946904"/>
            <a:ext cx="45720" cy="60350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5010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A6FF"/>
                </a:solidFill>
                <a:latin typeface="Calibri"/>
              </a:defRPr>
            </a:pPr>
            <a:r>
              <a:t>PR 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5202936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E6EDF3"/>
                </a:solidFill>
                <a:latin typeface="Calibri"/>
              </a:defRPr>
            </a:pPr>
            <a:r>
              <a:t>Sits above the 0.086 prevalence reference until the last fifth of recall.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5596128"/>
            <a:ext cx="3383280" cy="603504"/>
          </a:xfrm>
          <a:prstGeom prst="rect">
            <a:avLst/>
          </a:prstGeom>
          <a:solidFill>
            <a:srgbClr val="12161E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5596128"/>
            <a:ext cx="45720" cy="60350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6601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A6FF"/>
                </a:solidFill>
                <a:latin typeface="Calibri"/>
              </a:defRPr>
            </a:pPr>
            <a:r>
              <a:t>OPERATING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8521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E6EDF3"/>
                </a:solidFill>
                <a:latin typeface="Calibri"/>
              </a:defRPr>
            </a:pPr>
            <a:r>
              <a:t>Top-of-list precision ≈ 0.5 at recall ≈ 0.2 — a 5–6x lift over base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Calibration &amp; Risk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Well-ordered, not well-calibrated: random forest overpredicts mid-range risk — the textbook case for Platt or isotonic recalibration.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08 / 10</a:t>
            </a:r>
          </a:p>
        </p:txBody>
      </p:sp>
      <p:pic>
        <p:nvPicPr>
          <p:cNvPr id="7" name="Picture 6" descr="calibr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83341"/>
            <a:ext cx="11430000" cy="33656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97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Realised risk range 0.000 – 0.824. Reliability curve sits below the diagonal across most of the range; bias is largest in the mid-risk band.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Cross-Hospital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The top six features all exceed PSI 0.20 (large-shift threshold). PSI is the load-bearing signal; KS p-values are limited by held-out cohort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09 / 10</a:t>
            </a:r>
          </a:p>
        </p:txBody>
      </p:sp>
      <p:pic>
        <p:nvPicPr>
          <p:cNvPr id="7" name="Picture 6" descr="drift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60" y="1280160"/>
            <a:ext cx="10242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97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Temperature summaries dominate the drift profile (PSI 0.31–0.77) — a deployment-grade evaluation has to surface exactly this kind of shift.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Operational Translation &amp;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What the numbers mean for a clinical triage workflow — and what stops them being deployable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70332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7033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TOP-DECILE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~64 stays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32888"/>
            <a:ext cx="324612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Flags &lt;10% of the held-out cohort yet captures roughly one third to one half of all eventual mortality events — a 4–5x concentration of clinical effort onto the highest-risk patients.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325880"/>
            <a:ext cx="370332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325880"/>
            <a:ext cx="370332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Calibri"/>
              </a:defRPr>
            </a:pPr>
            <a:r>
              <a:t>TOP-QUARTILE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~160 stays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32888"/>
            <a:ext cx="324612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Captures the majority of events at the cost of a higher false-positive rate. This is the regime where the mid-risk calibration bias matters most.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1325880"/>
            <a:ext cx="370332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325880"/>
            <a:ext cx="3703320" cy="54864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22"/>
                </a:solidFill>
                <a:latin typeface="Calibri"/>
              </a:defRPr>
            </a:pPr>
            <a:r>
              <a:t>CALIBRATION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Use π̂, not 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532888"/>
            <a:ext cx="324612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Any threshold-based escalation must use the calibrated probability — a Platt or isotonic step on the raw model output — not the raw RF score.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22191"/>
            <a:ext cx="7516368" cy="23957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59351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LIMITS &amp;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2511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325111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eICU-CRD demo only (2,520 stays / 186 hospitals).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365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736591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Retrospective discharge status; no clinician adjudication.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4807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148071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Not clinically calibrated; mid-risk bias documented.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595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External validity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559551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Needs validation on a second health system + per-subgroup calibration audit.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822191"/>
            <a:ext cx="3456432" cy="23957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9593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LITERATURE ANCHORS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2511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eICU benchmarks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53711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Pollard 2018 · Sheikhalishahi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892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120639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Niculescu-Mizil &amp; Caruana 2005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45896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PR-vs-ROC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687567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Davis &amp; Goadrich 2006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